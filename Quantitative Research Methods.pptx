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81" r:id="rId4"/>
    <p:sldId id="268" r:id="rId5"/>
    <p:sldId id="270" r:id="rId6"/>
    <p:sldId id="271" r:id="rId7"/>
    <p:sldId id="269" r:id="rId8"/>
    <p:sldId id="273" r:id="rId9"/>
    <p:sldId id="274" r:id="rId10"/>
    <p:sldId id="257" r:id="rId11"/>
    <p:sldId id="279" r:id="rId12"/>
    <p:sldId id="275" r:id="rId13"/>
    <p:sldId id="277" r:id="rId14"/>
    <p:sldId id="282" r:id="rId15"/>
    <p:sldId id="283" r:id="rId16"/>
    <p:sldId id="284" r:id="rId17"/>
    <p:sldId id="278" r:id="rId18"/>
    <p:sldId id="264" r:id="rId19"/>
    <p:sldId id="259" r:id="rId20"/>
    <p:sldId id="272" r:id="rId21"/>
    <p:sldId id="286" r:id="rId22"/>
    <p:sldId id="287" r:id="rId23"/>
    <p:sldId id="285" r:id="rId24"/>
    <p:sldId id="288" r:id="rId25"/>
    <p:sldId id="280" r:id="rId26"/>
    <p:sldId id="260" r:id="rId27"/>
    <p:sldId id="261" r:id="rId28"/>
    <p:sldId id="26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692"/>
  </p:normalViewPr>
  <p:slideViewPr>
    <p:cSldViewPr snapToGrid="0">
      <p:cViewPr varScale="1">
        <p:scale>
          <a:sx n="114" d="100"/>
          <a:sy n="114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5823-EEA9-5CB3-E961-99F49041E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0FBE4-0C64-B46F-DF05-533223999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AC5F5-F770-965F-5E65-04874C06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278A-9051-49E1-F991-860C28026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0AC51-D809-A6AB-1C87-962F9EA9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7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9A99-8AC6-BF8D-30D2-D8CD0855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E193-DA1E-2A15-28B7-91A07305B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95B8-FD2A-9F94-3D26-1084BDB6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8BA34-9FEE-A0DE-C8E5-B7649A7A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AA144-EA5B-D787-30C0-7CB9CAA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6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28D00-F70D-7BE8-AB93-F778BFB2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1E049-B8E2-82B6-C3E9-BFD6D11D3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30E0F-7FB0-E527-709D-73BD593E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EC348-7622-F85D-14F8-DFE0FFDDB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3C419-DB70-2A9C-D41F-03C08C60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2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6CD2-E7AD-FF32-3DD3-4988886A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3688F-B02E-DBD5-DDFF-584DA861C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F72A-293A-528D-5E9D-A15D4204B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156BC-367C-1714-3B42-307E51B6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41AEE-0455-9FC7-4166-41A1568D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BBA67-9B39-7D64-E8BC-403D2320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3342-5427-1F5F-A8D8-6523921C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ED981-6AAD-EF46-27C2-6CECB3C41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D00CC-C7C6-1790-F4A9-856AF8780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C9BEA-7918-EE82-8A85-B52A59116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D0A17-7DFD-37CE-5BC1-DC1E77FD6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20D20-D3AD-2C19-96E1-31326681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A4E9F-60D9-1BC7-296D-8A777869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86128-2390-62C8-B818-29C946DB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9830E-D7CB-335A-2A09-B8D87AB7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2FB62-E80F-BAFA-3E9D-5D4EBD0C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1D15A-250D-96A9-C306-B7AA8B34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C2050-B4B2-BDC2-B9A0-109A7DE2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5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B1E2D-1366-A1BA-2BBD-BC6FE3CF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3FC7D-77A5-2E7B-9E44-CF419B98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CAA24-383E-10A7-1B9E-F25EFFAD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86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9C0E-967E-DCB6-B3DB-FF1774A0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921C9-B3A9-7172-5F03-8BCF0D86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04D5A-F099-37AE-9251-0DF384F6F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25150-0F49-BDF7-7FEA-25028876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70C79-D347-58EA-F8A7-B99BDF25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6BA59-C5D2-8993-5603-FFA2677E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7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432B-A85C-09E0-6D46-36556110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AF05A-D671-2737-C993-F754D03ED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ACB9B-D135-4683-ED3E-9E896C268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BA78A-0050-E4C5-60F7-174FDF69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F4683-542E-B2A3-CBEF-2FAAEFC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2B769-145A-D800-B056-8D909833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1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8D30-D249-961D-85E3-82245143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D756B-0484-9258-AEB9-AB660B8C3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D37F9-A6F2-EC2E-F53E-ED1AE645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D92F-D354-B6AE-E439-7B2E29978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CA9B8-BF12-BF0B-E8AB-DB1DA56C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8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8916C-0B84-2FF7-0261-5A740D6B2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4EA88-6DAB-AF81-2326-D0EB30856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CC37E-4DE4-9474-32CD-C9A21084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2C0DF-B7E3-C3CA-313A-0038CC36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FAD67-D06B-AAB4-8DD8-A5B85EEE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79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9E43F7-0202-5BAE-4978-7D834DDC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8218-2B8C-D22D-62D9-5F3B27C73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4EE5E-6AD5-5189-9BC1-FA8E33976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61E03-71E2-A04E-87AD-96A90732CD05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A76F6-EB16-1C4E-4F3C-3C222F778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5D527-65E3-004D-1E96-8781DFABF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2AE8F-0AA1-B048-A2F5-65E4F97FA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4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4E67B1-F482-7492-4316-8FBF937E75D0}"/>
              </a:ext>
            </a:extLst>
          </p:cNvPr>
          <p:cNvSpPr txBox="1"/>
          <p:nvPr/>
        </p:nvSpPr>
        <p:spPr>
          <a:xfrm>
            <a:off x="663263" y="2151727"/>
            <a:ext cx="1086547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Quantitative research methods</a:t>
            </a:r>
          </a:p>
          <a:p>
            <a:pPr algn="ctr"/>
            <a:r>
              <a:rPr lang="en-US" sz="4000" dirty="0"/>
              <a:t>I</a:t>
            </a:r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Description and inference from 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373011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73B4-F6E8-2C42-8C53-3110DF30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97E128FD-8559-BE3D-27C8-7959CC04E420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</p:spTree>
    <p:extLst>
      <p:ext uri="{BB962C8B-B14F-4D97-AF65-F5344CB8AC3E}">
        <p14:creationId xmlns:p14="http://schemas.microsoft.com/office/powerpoint/2010/main" val="384964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9D6E-9420-BB77-0779-DC286AE6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3B2539-13D7-6959-D550-4E3D3F727F8D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6AE6E-5C8F-0665-C474-C4879B898C3C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DCC50D-B0C2-398A-AA13-17227337D1CA}"/>
              </a:ext>
            </a:extLst>
          </p:cNvPr>
          <p:cNvCxnSpPr>
            <a:cxnSpLocks/>
            <a:stCxn id="43" idx="2"/>
            <a:endCxn id="6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73FBDBE-F0CE-483F-0E06-53043F55467C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</p:spTree>
    <p:extLst>
      <p:ext uri="{BB962C8B-B14F-4D97-AF65-F5344CB8AC3E}">
        <p14:creationId xmlns:p14="http://schemas.microsoft.com/office/powerpoint/2010/main" val="1973886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D67F-BC00-53C8-8167-F1631A05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B22E00-90D1-E28F-64BF-734B48859091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856F5-4544-C5CE-CC74-C04C3C28A3E6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1D95DC-2015-06C1-96EE-FF7EA7D4207A}"/>
              </a:ext>
            </a:extLst>
          </p:cNvPr>
          <p:cNvCxnSpPr>
            <a:cxnSpLocks/>
            <a:stCxn id="5" idx="2"/>
            <a:endCxn id="43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44729B-A801-9922-2C86-9DA10C3778FB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B367C7-7974-17EB-B8D8-A6A025BE3B87}"/>
              </a:ext>
            </a:extLst>
          </p:cNvPr>
          <p:cNvCxnSpPr>
            <a:cxnSpLocks/>
            <a:stCxn id="43" idx="2"/>
            <a:endCxn id="6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576CB15-BA9A-626C-7309-00AF57258941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144F38-057B-3BD9-3610-D12314D961D7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</p:spTree>
    <p:extLst>
      <p:ext uri="{BB962C8B-B14F-4D97-AF65-F5344CB8AC3E}">
        <p14:creationId xmlns:p14="http://schemas.microsoft.com/office/powerpoint/2010/main" val="204750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618F2-EB87-6505-8F4F-C40FF1E8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B9F7D-4467-5174-5573-59851E2F6C24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8638B8-B7F8-8D29-FAF1-6BED4B34F980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1F3FAE-8434-0A25-993C-ACF37734A41A}"/>
              </a:ext>
            </a:extLst>
          </p:cNvPr>
          <p:cNvCxnSpPr>
            <a:cxnSpLocks/>
            <a:stCxn id="5" idx="2"/>
            <a:endCxn id="43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7BDE64-1665-BB36-26DE-A717F3DCAA81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71290A-7A3D-8FF4-4BC9-DEA5EC4D7692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346BA2-DE0B-E9AA-B7D9-48F6DE41E33C}"/>
              </a:ext>
            </a:extLst>
          </p:cNvPr>
          <p:cNvCxnSpPr>
            <a:cxnSpLocks/>
            <a:stCxn id="43" idx="2"/>
            <a:endCxn id="6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0070D88-CB28-B7D0-D792-9679A9A78C2F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1720E6-EE88-CB66-5753-A46FF0C6DE74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623AEB-FA40-8AE9-F1CD-0729B726BC16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FAE001-A206-C761-FD09-5A45BBE7E83C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13C55E-3A4A-C481-9B28-D611F23AC4B9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4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57297-24C8-C718-D20F-F8C6246C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4F1D43-7637-709B-8E7B-4E7C6256CE0C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5C7FF-B0DB-B171-B941-8B8228C584DD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4A67C-5AEA-5110-B789-A322913BF0C0}"/>
              </a:ext>
            </a:extLst>
          </p:cNvPr>
          <p:cNvSpPr txBox="1"/>
          <p:nvPr/>
        </p:nvSpPr>
        <p:spPr>
          <a:xfrm>
            <a:off x="8306472" y="357422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4BCE80-104A-672A-93E1-94F7BA4A55D6}"/>
              </a:ext>
            </a:extLst>
          </p:cNvPr>
          <p:cNvCxnSpPr>
            <a:cxnSpLocks/>
            <a:stCxn id="5" idx="2"/>
            <a:endCxn id="43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4B9F14-90DB-1076-5BA8-526EBC77C004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41A60F-0426-9DB8-9A71-BD97E8EDEF9A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4AFC38-1872-2915-DEB9-93EF0ED7960B}"/>
              </a:ext>
            </a:extLst>
          </p:cNvPr>
          <p:cNvCxnSpPr>
            <a:cxnSpLocks/>
            <a:stCxn id="43" idx="2"/>
            <a:endCxn id="6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5245B4D-898F-8F8D-1C9A-3D1330296B15}"/>
              </a:ext>
            </a:extLst>
          </p:cNvPr>
          <p:cNvSpPr txBox="1"/>
          <p:nvPr/>
        </p:nvSpPr>
        <p:spPr>
          <a:xfrm rot="20061785">
            <a:off x="7276434" y="4499997"/>
            <a:ext cx="875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PREDICT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037C2B-7E2A-2667-D40A-2EF0ADEF1822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A2307F-D97F-AF91-7B3C-91FDC4F28CA0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1D2326-7A5B-4176-0239-30EBA1451901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9FCA10E-BCD9-EA03-BDBE-D839C8AA7BC8}"/>
              </a:ext>
            </a:extLst>
          </p:cNvPr>
          <p:cNvCxnSpPr>
            <a:cxnSpLocks/>
            <a:stCxn id="8" idx="1"/>
            <a:endCxn id="43" idx="3"/>
          </p:cNvCxnSpPr>
          <p:nvPr/>
        </p:nvCxnSpPr>
        <p:spPr>
          <a:xfrm flipH="1">
            <a:off x="6649041" y="3758888"/>
            <a:ext cx="16574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5AF0D48-DD22-C706-A87D-85046505F07C}"/>
              </a:ext>
            </a:extLst>
          </p:cNvPr>
          <p:cNvCxnSpPr>
            <a:cxnSpLocks/>
            <a:stCxn id="8" idx="2"/>
            <a:endCxn id="6" idx="3"/>
          </p:cNvCxnSpPr>
          <p:nvPr/>
        </p:nvCxnSpPr>
        <p:spPr>
          <a:xfrm flipH="1">
            <a:off x="6217771" y="3943554"/>
            <a:ext cx="2557740" cy="12225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7F3A0D2-98B4-ABAF-73F6-5D5FDE5F9358}"/>
              </a:ext>
            </a:extLst>
          </p:cNvPr>
          <p:cNvSpPr txBox="1"/>
          <p:nvPr/>
        </p:nvSpPr>
        <p:spPr>
          <a:xfrm>
            <a:off x="6992527" y="3475627"/>
            <a:ext cx="97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SIMULATE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470017-E7CD-7A64-5184-00ECA2DC5564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6EAC30-B284-58F0-BD75-BBC11197A493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62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3809A-6BF0-7015-68E8-3E2EBAC3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6C1FAC-E3AA-5B6D-08BC-2A358BB22EDC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2D261-AA35-0C2A-2851-DE51B9E62835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24B77-B91A-F0ED-A2DA-BE0A29E47BF8}"/>
              </a:ext>
            </a:extLst>
          </p:cNvPr>
          <p:cNvSpPr txBox="1"/>
          <p:nvPr/>
        </p:nvSpPr>
        <p:spPr>
          <a:xfrm>
            <a:off x="8306472" y="357422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DBB549-F844-181A-F2B4-1F92E7A4845F}"/>
              </a:ext>
            </a:extLst>
          </p:cNvPr>
          <p:cNvCxnSpPr>
            <a:cxnSpLocks/>
            <a:stCxn id="5" idx="2"/>
            <a:endCxn id="43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ACD34C-D50B-6777-9B92-1E8C56B29254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2BA309-E6A5-86DD-730C-5D09A47B66C0}"/>
              </a:ext>
            </a:extLst>
          </p:cNvPr>
          <p:cNvCxnSpPr>
            <a:cxnSpLocks/>
            <a:stCxn id="8" idx="0"/>
            <a:endCxn id="5" idx="3"/>
          </p:cNvCxnSpPr>
          <p:nvPr/>
        </p:nvCxnSpPr>
        <p:spPr>
          <a:xfrm flipH="1" flipV="1">
            <a:off x="6378006" y="2351674"/>
            <a:ext cx="2397505" cy="1222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8DBDD4C-DF25-BA62-457E-2E356209FA95}"/>
              </a:ext>
            </a:extLst>
          </p:cNvPr>
          <p:cNvSpPr txBox="1"/>
          <p:nvPr/>
        </p:nvSpPr>
        <p:spPr>
          <a:xfrm rot="2085128">
            <a:off x="7383739" y="2697215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5131A0-F50E-7BD8-8097-9FB2A670D579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A001E53-F175-4F96-F1FE-332A1B7EF39B}"/>
              </a:ext>
            </a:extLst>
          </p:cNvPr>
          <p:cNvCxnSpPr>
            <a:cxnSpLocks/>
            <a:stCxn id="43" idx="2"/>
            <a:endCxn id="6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55015D9-876C-B09E-2601-8F23293E2189}"/>
              </a:ext>
            </a:extLst>
          </p:cNvPr>
          <p:cNvSpPr txBox="1"/>
          <p:nvPr/>
        </p:nvSpPr>
        <p:spPr>
          <a:xfrm rot="20061785">
            <a:off x="7276434" y="4499997"/>
            <a:ext cx="875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PREDICT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2D49CE-5B8C-908B-DC22-A8C521CACF57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4FA3A4-8904-2467-8A27-EFAA13853844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C24F7D-0E8B-B89A-776F-77106F02012D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2F9650C-F619-075A-DAD5-7DB6B2F77E58}"/>
              </a:ext>
            </a:extLst>
          </p:cNvPr>
          <p:cNvCxnSpPr>
            <a:cxnSpLocks/>
            <a:stCxn id="8" idx="1"/>
            <a:endCxn id="43" idx="3"/>
          </p:cNvCxnSpPr>
          <p:nvPr/>
        </p:nvCxnSpPr>
        <p:spPr>
          <a:xfrm flipH="1">
            <a:off x="6649041" y="3758888"/>
            <a:ext cx="16574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EFA4627-E186-707C-EDFA-509E97DAF307}"/>
              </a:ext>
            </a:extLst>
          </p:cNvPr>
          <p:cNvCxnSpPr>
            <a:cxnSpLocks/>
            <a:stCxn id="8" idx="2"/>
            <a:endCxn id="6" idx="3"/>
          </p:cNvCxnSpPr>
          <p:nvPr/>
        </p:nvCxnSpPr>
        <p:spPr>
          <a:xfrm flipH="1">
            <a:off x="6217771" y="3943554"/>
            <a:ext cx="2557740" cy="12225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F898303-AAAC-B4CA-2C15-BF0F28D5CF47}"/>
              </a:ext>
            </a:extLst>
          </p:cNvPr>
          <p:cNvSpPr txBox="1"/>
          <p:nvPr/>
        </p:nvSpPr>
        <p:spPr>
          <a:xfrm>
            <a:off x="6992527" y="3475627"/>
            <a:ext cx="97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SIMULATE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C6D1B7-B65E-1117-503C-0E2D0444AD1E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699BD-1225-E10E-A175-1F5D25D808F9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9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948943-FDE5-5489-2338-64A7AB9641C2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065284-5089-3FE0-FD20-4EBABD133F47}"/>
              </a:ext>
            </a:extLst>
          </p:cNvPr>
          <p:cNvSpPr txBox="1"/>
          <p:nvPr/>
        </p:nvSpPr>
        <p:spPr>
          <a:xfrm>
            <a:off x="133815" y="3469175"/>
            <a:ext cx="305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chords sound more “tense” and “unresolved” than others </a:t>
            </a:r>
          </a:p>
        </p:txBody>
      </p:sp>
    </p:spTree>
    <p:extLst>
      <p:ext uri="{BB962C8B-B14F-4D97-AF65-F5344CB8AC3E}">
        <p14:creationId xmlns:p14="http://schemas.microsoft.com/office/powerpoint/2010/main" val="295638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D7884D-5A8C-190A-CDB1-3DF044F2FDB9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BE2FD-482A-FE51-D72D-576E393CF2AC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68827D-87A5-F90B-DA0B-C7ED2E62A99D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63BB92-A97A-64F6-C04C-3F1B0214E3B2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03366-4D83-2B83-09A7-D432E1321C29}"/>
              </a:ext>
            </a:extLst>
          </p:cNvPr>
          <p:cNvSpPr txBox="1"/>
          <p:nvPr/>
        </p:nvSpPr>
        <p:spPr>
          <a:xfrm>
            <a:off x="133815" y="3469175"/>
            <a:ext cx="305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chords sound more “tense” and “unresolved” than others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F311F9-C13B-E7BA-1A0D-E3592B919C61}"/>
              </a:ext>
            </a:extLst>
          </p:cNvPr>
          <p:cNvSpPr txBox="1"/>
          <p:nvPr/>
        </p:nvSpPr>
        <p:spPr>
          <a:xfrm>
            <a:off x="133815" y="4876390"/>
            <a:ext cx="305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Self-reported tension ratings (1-7)</a:t>
            </a:r>
          </a:p>
        </p:txBody>
      </p:sp>
    </p:spTree>
    <p:extLst>
      <p:ext uri="{BB962C8B-B14F-4D97-AF65-F5344CB8AC3E}">
        <p14:creationId xmlns:p14="http://schemas.microsoft.com/office/powerpoint/2010/main" val="2001369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2153-AAC5-3382-8B4B-FD7C2C40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EFA996-4062-3DF2-FDF3-3339CDF5B3A0}"/>
              </a:ext>
            </a:extLst>
          </p:cNvPr>
          <p:cNvSpPr txBox="1"/>
          <p:nvPr/>
        </p:nvSpPr>
        <p:spPr>
          <a:xfrm>
            <a:off x="1796001" y="2436602"/>
            <a:ext cx="3188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HYPOTHESIS GENERATION</a:t>
            </a:r>
          </a:p>
          <a:p>
            <a:pPr algn="ctr"/>
            <a:r>
              <a:rPr lang="en-US" dirty="0"/>
              <a:t>(EXPLORATORY/DESCRIPTIVE)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EF6AF-2392-C566-DD9D-300E7EAC17EA}"/>
              </a:ext>
            </a:extLst>
          </p:cNvPr>
          <p:cNvSpPr txBox="1"/>
          <p:nvPr/>
        </p:nvSpPr>
        <p:spPr>
          <a:xfrm>
            <a:off x="1122360" y="3352707"/>
            <a:ext cx="4535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Describe a phenomenon with quantitative (and/or qualitative) observations and formulate hypothetical statements about the phenomenon itself, or its latent causes</a:t>
            </a:r>
          </a:p>
        </p:txBody>
      </p:sp>
    </p:spTree>
    <p:extLst>
      <p:ext uri="{BB962C8B-B14F-4D97-AF65-F5344CB8AC3E}">
        <p14:creationId xmlns:p14="http://schemas.microsoft.com/office/powerpoint/2010/main" val="593494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273E7-F63B-37B4-9340-F6DF2CF8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07C97-1C07-F16D-70ED-A6CEA6EE85D5}"/>
              </a:ext>
            </a:extLst>
          </p:cNvPr>
          <p:cNvSpPr txBox="1"/>
          <p:nvPr/>
        </p:nvSpPr>
        <p:spPr>
          <a:xfrm>
            <a:off x="1796001" y="2436602"/>
            <a:ext cx="3188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HYPOTHESIS GENERATION</a:t>
            </a:r>
          </a:p>
          <a:p>
            <a:pPr algn="ctr"/>
            <a:r>
              <a:rPr lang="en-US" dirty="0"/>
              <a:t>(EXPLORATORY/DESCRIPTIVE)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C829D3-BA2E-F3A6-4C3D-9C7EC76AEFB8}"/>
              </a:ext>
            </a:extLst>
          </p:cNvPr>
          <p:cNvSpPr txBox="1"/>
          <p:nvPr/>
        </p:nvSpPr>
        <p:spPr>
          <a:xfrm>
            <a:off x="1122360" y="3352707"/>
            <a:ext cx="4535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Describe a phenomenon with quantitative (and/or qualitative) observations and formulate hypothetical statements about the phenomenon itself, or its latent causes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2C057D-3947-34AA-291A-39B449818EE0}"/>
              </a:ext>
            </a:extLst>
          </p:cNvPr>
          <p:cNvSpPr txBox="1"/>
          <p:nvPr/>
        </p:nvSpPr>
        <p:spPr>
          <a:xfrm>
            <a:off x="7323963" y="2436602"/>
            <a:ext cx="2397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HYPOTHESIS TESTING</a:t>
            </a:r>
          </a:p>
          <a:p>
            <a:pPr algn="ctr"/>
            <a:r>
              <a:rPr lang="en-US" dirty="0"/>
              <a:t>(INFERENTIAL)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509766-165B-B0CE-15AC-2002F0B76B2B}"/>
              </a:ext>
            </a:extLst>
          </p:cNvPr>
          <p:cNvSpPr txBox="1"/>
          <p:nvPr/>
        </p:nvSpPr>
        <p:spPr>
          <a:xfrm>
            <a:off x="6254861" y="3352707"/>
            <a:ext cx="4535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Assessing the degree to which a hypothesis about a phenomenon and its causes is consistent with the available data</a:t>
            </a:r>
          </a:p>
        </p:txBody>
      </p:sp>
    </p:spTree>
    <p:extLst>
      <p:ext uri="{BB962C8B-B14F-4D97-AF65-F5344CB8AC3E}">
        <p14:creationId xmlns:p14="http://schemas.microsoft.com/office/powerpoint/2010/main" val="3573455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E5EF-504F-123A-D3B6-3D2EDC51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D8E7AC-BB74-E887-6BA2-2ECFACEF6867}"/>
              </a:ext>
            </a:extLst>
          </p:cNvPr>
          <p:cNvSpPr txBox="1"/>
          <p:nvPr/>
        </p:nvSpPr>
        <p:spPr>
          <a:xfrm>
            <a:off x="133815" y="3469175"/>
            <a:ext cx="305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chords sound more “tense” and “unresolved” than others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61CB27-FE43-657B-1F21-65720033F5CF}"/>
              </a:ext>
            </a:extLst>
          </p:cNvPr>
          <p:cNvSpPr txBox="1"/>
          <p:nvPr/>
        </p:nvSpPr>
        <p:spPr>
          <a:xfrm>
            <a:off x="133815" y="4876390"/>
            <a:ext cx="305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Self-reported tension ratings (1-7)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28F4B5-B651-AE02-0D03-BEED1E1E21C9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D77FE-6729-C9FC-E412-013128C22DBD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703705-611A-102C-AABD-46031C382639}"/>
              </a:ext>
            </a:extLst>
          </p:cNvPr>
          <p:cNvCxnSpPr>
            <a:cxnSpLocks/>
            <a:stCxn id="2" idx="2"/>
            <a:endCxn id="16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54E775-0EAA-32F4-4ACE-EF72CFE04AAF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39A60D-A30E-382A-6915-F91CE95FA260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6D8890-1A35-872F-E2A8-E9A9D8CEC981}"/>
              </a:ext>
            </a:extLst>
          </p:cNvPr>
          <p:cNvCxnSpPr>
            <a:cxnSpLocks/>
            <a:stCxn id="16" idx="2"/>
            <a:endCxn id="3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996034A-F3BC-2680-998D-E014CE942859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C89FB-FA63-B99F-EC65-AF1FB16AE0CA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B5EE1F-2E27-D3F6-582E-3F9090C684FE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29C756-BBC3-B3B8-0318-11AFB11A606F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67E666-6650-22AF-19D4-613C182AF2FB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258C45-D92C-CA10-2865-07F58BE06E31}"/>
              </a:ext>
            </a:extLst>
          </p:cNvPr>
          <p:cNvSpPr txBox="1"/>
          <p:nvPr/>
        </p:nvSpPr>
        <p:spPr>
          <a:xfrm>
            <a:off x="216475" y="1751509"/>
            <a:ext cx="3055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HYPOTHESIS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Tension is caused by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dissonance and loudness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09202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7147-951F-EAC6-F86F-7EC8D0F1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30E1F86-6C67-A8E6-1724-874EA1E45635}"/>
              </a:ext>
            </a:extLst>
          </p:cNvPr>
          <p:cNvSpPr txBox="1"/>
          <p:nvPr/>
        </p:nvSpPr>
        <p:spPr>
          <a:xfrm>
            <a:off x="133815" y="3469175"/>
            <a:ext cx="305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chords sound more “tense” and “unresolved” than others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D47D9-35A2-ACC5-53E1-A558F13404CA}"/>
              </a:ext>
            </a:extLst>
          </p:cNvPr>
          <p:cNvSpPr txBox="1"/>
          <p:nvPr/>
        </p:nvSpPr>
        <p:spPr>
          <a:xfrm>
            <a:off x="133815" y="4876390"/>
            <a:ext cx="305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Self-reported tension ratings (1-7)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8B514A-1840-1EAF-3F41-F543A8914022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6446A6-CA77-2AAC-3593-15C98FB161DD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B75021-1975-7EBB-5C7C-E08FDDB96FAD}"/>
              </a:ext>
            </a:extLst>
          </p:cNvPr>
          <p:cNvSpPr txBox="1"/>
          <p:nvPr/>
        </p:nvSpPr>
        <p:spPr>
          <a:xfrm>
            <a:off x="7915492" y="357422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FF10475-DE2D-0B81-75C2-2BD9615C7C12}"/>
              </a:ext>
            </a:extLst>
          </p:cNvPr>
          <p:cNvCxnSpPr>
            <a:cxnSpLocks/>
            <a:stCxn id="32" idx="2"/>
            <a:endCxn id="42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2FF690-7CCD-073F-D853-2916F3D4EC9C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019D8F-696D-EC10-438E-7C6E43FC2E3A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223874-0DD4-596D-D727-54A5BFA1A9F0}"/>
              </a:ext>
            </a:extLst>
          </p:cNvPr>
          <p:cNvCxnSpPr>
            <a:cxnSpLocks/>
            <a:stCxn id="42" idx="2"/>
            <a:endCxn id="33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63CEC65-5304-1B98-3B84-9FE17587B68F}"/>
              </a:ext>
            </a:extLst>
          </p:cNvPr>
          <p:cNvSpPr txBox="1"/>
          <p:nvPr/>
        </p:nvSpPr>
        <p:spPr>
          <a:xfrm rot="19636192">
            <a:off x="6982903" y="4499996"/>
            <a:ext cx="875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PREDICT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5FDDA4-D733-DE55-C273-BDFF79516EB2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D6A157-D2D5-C831-965F-264B24B194CD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91634A-8F2F-19D2-34ED-DFF2AE2AEFDE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9D0C1B-0DD5-AC07-B909-773BE9F180E4}"/>
              </a:ext>
            </a:extLst>
          </p:cNvPr>
          <p:cNvCxnSpPr>
            <a:cxnSpLocks/>
            <a:stCxn id="34" idx="1"/>
            <a:endCxn id="42" idx="3"/>
          </p:cNvCxnSpPr>
          <p:nvPr/>
        </p:nvCxnSpPr>
        <p:spPr>
          <a:xfrm flipH="1">
            <a:off x="6649041" y="3758888"/>
            <a:ext cx="12664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83EF495-7413-791F-EC5A-71EED236601F}"/>
              </a:ext>
            </a:extLst>
          </p:cNvPr>
          <p:cNvCxnSpPr>
            <a:cxnSpLocks/>
            <a:stCxn id="34" idx="2"/>
            <a:endCxn id="33" idx="3"/>
          </p:cNvCxnSpPr>
          <p:nvPr/>
        </p:nvCxnSpPr>
        <p:spPr>
          <a:xfrm flipH="1">
            <a:off x="6217771" y="3943554"/>
            <a:ext cx="2166760" cy="12225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5D2F49-3AB2-E86F-43A2-45331C204C96}"/>
              </a:ext>
            </a:extLst>
          </p:cNvPr>
          <p:cNvSpPr txBox="1"/>
          <p:nvPr/>
        </p:nvSpPr>
        <p:spPr>
          <a:xfrm>
            <a:off x="6903704" y="3489662"/>
            <a:ext cx="97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SIMULATE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2793E0-37BD-BA72-4902-EB84F247CD6A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C97406-F28A-524A-EE69-61EBB00D2916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E297EB-B425-49FA-15C5-BEC357F06889}"/>
              </a:ext>
            </a:extLst>
          </p:cNvPr>
          <p:cNvSpPr txBox="1"/>
          <p:nvPr/>
        </p:nvSpPr>
        <p:spPr>
          <a:xfrm>
            <a:off x="7558383" y="736903"/>
            <a:ext cx="590226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CHORD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507B05-CC79-78A2-1D62-4F9EEE260820}"/>
              </a:ext>
            </a:extLst>
          </p:cNvPr>
          <p:cNvSpPr txBox="1"/>
          <p:nvPr/>
        </p:nvSpPr>
        <p:spPr>
          <a:xfrm>
            <a:off x="7531933" y="1001188"/>
            <a:ext cx="6335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dissonance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6F390B-E5B8-1DB4-F5BD-07F6DF7AC1B8}"/>
              </a:ext>
            </a:extLst>
          </p:cNvPr>
          <p:cNvSpPr txBox="1"/>
          <p:nvPr/>
        </p:nvSpPr>
        <p:spPr>
          <a:xfrm>
            <a:off x="7577618" y="1201243"/>
            <a:ext cx="5421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loudness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2D32BB-A022-58FA-BCDA-77142B6B3995}"/>
              </a:ext>
            </a:extLst>
          </p:cNvPr>
          <p:cNvSpPr txBox="1"/>
          <p:nvPr/>
        </p:nvSpPr>
        <p:spPr>
          <a:xfrm>
            <a:off x="7717881" y="1401298"/>
            <a:ext cx="2616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…</a:t>
            </a:r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4DB57709-9ACA-1648-5072-80981700C5F8}"/>
              </a:ext>
            </a:extLst>
          </p:cNvPr>
          <p:cNvSpPr/>
          <p:nvPr/>
        </p:nvSpPr>
        <p:spPr>
          <a:xfrm>
            <a:off x="7456909" y="1001188"/>
            <a:ext cx="45719" cy="60016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6AF2E9-C4F2-78F2-6C64-7745D9791FF1}"/>
              </a:ext>
            </a:extLst>
          </p:cNvPr>
          <p:cNvSpPr txBox="1"/>
          <p:nvPr/>
        </p:nvSpPr>
        <p:spPr>
          <a:xfrm rot="16200000">
            <a:off x="7044072" y="1187459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FEATURES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D77256-A8F5-BDBB-E505-9BE9EC14CA7F}"/>
              </a:ext>
            </a:extLst>
          </p:cNvPr>
          <p:cNvSpPr txBox="1"/>
          <p:nvPr/>
        </p:nvSpPr>
        <p:spPr>
          <a:xfrm>
            <a:off x="216475" y="1751509"/>
            <a:ext cx="3055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HYPOTHESIS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Tension is caused by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dissonance and loudness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90843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02FD4-FA01-055B-3FA2-DE8C3F14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6A36A05-A76B-E084-A767-DB1F0CF35D62}"/>
              </a:ext>
            </a:extLst>
          </p:cNvPr>
          <p:cNvSpPr txBox="1"/>
          <p:nvPr/>
        </p:nvSpPr>
        <p:spPr>
          <a:xfrm>
            <a:off x="133815" y="3469175"/>
            <a:ext cx="305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chords sound more “tense” and “unresolved” than others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9155F-B39B-5F96-7B76-7B98732C4B01}"/>
              </a:ext>
            </a:extLst>
          </p:cNvPr>
          <p:cNvSpPr txBox="1"/>
          <p:nvPr/>
        </p:nvSpPr>
        <p:spPr>
          <a:xfrm>
            <a:off x="133815" y="4876390"/>
            <a:ext cx="305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Self-reported tension ratings (1-7)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C1FD2A-E127-78F7-8161-EF825D7A4373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B31C35-D6E5-E572-C131-8E049867AA40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46B7AF-0925-8341-4B21-F660CD93AC11}"/>
              </a:ext>
            </a:extLst>
          </p:cNvPr>
          <p:cNvSpPr txBox="1"/>
          <p:nvPr/>
        </p:nvSpPr>
        <p:spPr>
          <a:xfrm>
            <a:off x="7915492" y="357422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0FA7A4-6046-281B-F099-03DD3039B688}"/>
              </a:ext>
            </a:extLst>
          </p:cNvPr>
          <p:cNvCxnSpPr>
            <a:cxnSpLocks/>
            <a:stCxn id="32" idx="2"/>
            <a:endCxn id="42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4776AD0-321D-917B-22C1-4C2744B52A14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DB34FE1-EC90-C583-5F03-1434CC5E166E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61C6737-949C-BF34-7AFA-B0EDFCFE41AA}"/>
              </a:ext>
            </a:extLst>
          </p:cNvPr>
          <p:cNvCxnSpPr>
            <a:cxnSpLocks/>
            <a:stCxn id="42" idx="2"/>
            <a:endCxn id="33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3D4DBE3-30FF-8D90-B1E9-3B8F97A31F8F}"/>
              </a:ext>
            </a:extLst>
          </p:cNvPr>
          <p:cNvSpPr txBox="1"/>
          <p:nvPr/>
        </p:nvSpPr>
        <p:spPr>
          <a:xfrm rot="19636192">
            <a:off x="6982903" y="4499996"/>
            <a:ext cx="875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PREDICT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FC2442-5293-0015-0C32-08B4C90419B1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50FDD0-A349-0288-B081-9FF75D08BC73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3F7C3F-A73B-F8E7-C1AD-D482C5580048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BCE040-BD77-FC70-0D4F-3771904E3E25}"/>
              </a:ext>
            </a:extLst>
          </p:cNvPr>
          <p:cNvCxnSpPr>
            <a:cxnSpLocks/>
            <a:stCxn id="34" idx="1"/>
            <a:endCxn id="42" idx="3"/>
          </p:cNvCxnSpPr>
          <p:nvPr/>
        </p:nvCxnSpPr>
        <p:spPr>
          <a:xfrm flipH="1">
            <a:off x="6649041" y="3758888"/>
            <a:ext cx="12664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502E752-B129-28EC-736E-D2C98EEA5869}"/>
              </a:ext>
            </a:extLst>
          </p:cNvPr>
          <p:cNvCxnSpPr>
            <a:cxnSpLocks/>
            <a:stCxn id="34" idx="2"/>
            <a:endCxn id="33" idx="3"/>
          </p:cNvCxnSpPr>
          <p:nvPr/>
        </p:nvCxnSpPr>
        <p:spPr>
          <a:xfrm flipH="1">
            <a:off x="6217771" y="3943554"/>
            <a:ext cx="2166760" cy="12225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CF22E93-540E-EA6E-4600-2BD248280825}"/>
              </a:ext>
            </a:extLst>
          </p:cNvPr>
          <p:cNvSpPr txBox="1"/>
          <p:nvPr/>
        </p:nvSpPr>
        <p:spPr>
          <a:xfrm>
            <a:off x="6903704" y="3489662"/>
            <a:ext cx="97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SIMULATE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89B7BB-F627-5E83-4984-40C4A2887E9E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AAE9A6-5A44-AC0B-C353-91FB275F8A17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9923FC-2D9C-BF5B-B62F-3D2EA91896B3}"/>
              </a:ext>
            </a:extLst>
          </p:cNvPr>
          <p:cNvSpPr txBox="1"/>
          <p:nvPr/>
        </p:nvSpPr>
        <p:spPr>
          <a:xfrm>
            <a:off x="7558383" y="736903"/>
            <a:ext cx="590226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CHORD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EB7A2C-B8C3-EED5-B312-DC9070B9E4C7}"/>
              </a:ext>
            </a:extLst>
          </p:cNvPr>
          <p:cNvSpPr txBox="1"/>
          <p:nvPr/>
        </p:nvSpPr>
        <p:spPr>
          <a:xfrm>
            <a:off x="7531933" y="1001188"/>
            <a:ext cx="6335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dissonance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E04E05-7C98-1D5C-D4BB-E43D11FE0ABF}"/>
              </a:ext>
            </a:extLst>
          </p:cNvPr>
          <p:cNvSpPr txBox="1"/>
          <p:nvPr/>
        </p:nvSpPr>
        <p:spPr>
          <a:xfrm>
            <a:off x="7577618" y="1201243"/>
            <a:ext cx="5421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loudness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494E35-DCF1-C419-248A-1046F12C9380}"/>
              </a:ext>
            </a:extLst>
          </p:cNvPr>
          <p:cNvSpPr txBox="1"/>
          <p:nvPr/>
        </p:nvSpPr>
        <p:spPr>
          <a:xfrm>
            <a:off x="7717881" y="1401298"/>
            <a:ext cx="2616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…</a:t>
            </a:r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F2FC0CE4-2761-9395-9984-4F493AB93E87}"/>
              </a:ext>
            </a:extLst>
          </p:cNvPr>
          <p:cNvSpPr/>
          <p:nvPr/>
        </p:nvSpPr>
        <p:spPr>
          <a:xfrm>
            <a:off x="7456909" y="1001188"/>
            <a:ext cx="45719" cy="60016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4161BD-0119-B245-D21F-A9167B8A92C4}"/>
              </a:ext>
            </a:extLst>
          </p:cNvPr>
          <p:cNvSpPr txBox="1"/>
          <p:nvPr/>
        </p:nvSpPr>
        <p:spPr>
          <a:xfrm rot="16200000">
            <a:off x="7044072" y="1187459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FEATURES</a:t>
            </a:r>
          </a:p>
        </p:txBody>
      </p:sp>
      <p:pic>
        <p:nvPicPr>
          <p:cNvPr id="31" name="Graphic 30" descr="Ear with solid fill">
            <a:extLst>
              <a:ext uri="{FF2B5EF4-FFF2-40B4-BE49-F238E27FC236}">
                <a16:creationId xmlns:a16="http://schemas.microsoft.com/office/drawing/2014/main" id="{81149CF1-C5A9-809F-1DD9-01822223F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249" y="346239"/>
            <a:ext cx="914400" cy="914400"/>
          </a:xfrm>
          <a:prstGeom prst="rect">
            <a:avLst/>
          </a:prstGeom>
        </p:spPr>
      </p:pic>
      <p:sp>
        <p:nvSpPr>
          <p:cNvPr id="49" name="Right Arrow 48">
            <a:extLst>
              <a:ext uri="{FF2B5EF4-FFF2-40B4-BE49-F238E27FC236}">
                <a16:creationId xmlns:a16="http://schemas.microsoft.com/office/drawing/2014/main" id="{FC047647-C228-713C-5E48-9A59ABB44A8A}"/>
              </a:ext>
            </a:extLst>
          </p:cNvPr>
          <p:cNvSpPr/>
          <p:nvPr/>
        </p:nvSpPr>
        <p:spPr>
          <a:xfrm>
            <a:off x="8358141" y="736903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3374DC-91D5-DEE4-D867-D8692A09FE2D}"/>
              </a:ext>
            </a:extLst>
          </p:cNvPr>
          <p:cNvSpPr txBox="1"/>
          <p:nvPr/>
        </p:nvSpPr>
        <p:spPr>
          <a:xfrm>
            <a:off x="216475" y="1751509"/>
            <a:ext cx="3055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HYPOTHESIS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Tension is caused by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dissonance and loudness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96242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A0168-A395-86B3-E453-2CCFB186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D644770-BC9A-F5D8-CEB3-1ED044FFC6FC}"/>
              </a:ext>
            </a:extLst>
          </p:cNvPr>
          <p:cNvSpPr txBox="1"/>
          <p:nvPr/>
        </p:nvSpPr>
        <p:spPr>
          <a:xfrm>
            <a:off x="133815" y="3469175"/>
            <a:ext cx="305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chords sound more “tense” and “unresolved” than others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762D0-359A-3CE2-2007-DC83C8029160}"/>
              </a:ext>
            </a:extLst>
          </p:cNvPr>
          <p:cNvSpPr txBox="1"/>
          <p:nvPr/>
        </p:nvSpPr>
        <p:spPr>
          <a:xfrm>
            <a:off x="133815" y="4876390"/>
            <a:ext cx="305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Self-reported tension ratings (1-7)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84D647-BBD0-FC75-239A-8EC7A80132FB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019CA9-E8D4-10DB-F635-8F16C3D3D0A6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1DABF8-5220-165C-958A-EAD471E8AB8D}"/>
              </a:ext>
            </a:extLst>
          </p:cNvPr>
          <p:cNvSpPr txBox="1"/>
          <p:nvPr/>
        </p:nvSpPr>
        <p:spPr>
          <a:xfrm>
            <a:off x="7915492" y="357422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A6C0F0E-51BB-BF25-B87E-94F1A07848D8}"/>
              </a:ext>
            </a:extLst>
          </p:cNvPr>
          <p:cNvCxnSpPr>
            <a:cxnSpLocks/>
            <a:stCxn id="32" idx="2"/>
            <a:endCxn id="42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1F0FC0E-B914-576E-E46F-153EAA886637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FA5E4C3-7C91-FF3C-0C3A-E4D29592F57D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A5A396A-C65B-9E0A-9EFA-752EFD0E4AB4}"/>
              </a:ext>
            </a:extLst>
          </p:cNvPr>
          <p:cNvCxnSpPr>
            <a:cxnSpLocks/>
            <a:stCxn id="42" idx="2"/>
            <a:endCxn id="33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0B55F63-7B09-324A-24E8-9177BE325BD7}"/>
              </a:ext>
            </a:extLst>
          </p:cNvPr>
          <p:cNvSpPr txBox="1"/>
          <p:nvPr/>
        </p:nvSpPr>
        <p:spPr>
          <a:xfrm rot="19636192">
            <a:off x="6982903" y="4499996"/>
            <a:ext cx="875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PREDICT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C47426-3692-B775-0887-7BC8F443D4F8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AD4057-4D6F-662A-8D68-010F37E7A9B1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C82C8A-91C7-9E57-A061-2463E9B49E09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C83786F-B1D3-AF4D-F16A-735B307F62C6}"/>
              </a:ext>
            </a:extLst>
          </p:cNvPr>
          <p:cNvCxnSpPr>
            <a:cxnSpLocks/>
            <a:stCxn id="34" idx="1"/>
            <a:endCxn id="42" idx="3"/>
          </p:cNvCxnSpPr>
          <p:nvPr/>
        </p:nvCxnSpPr>
        <p:spPr>
          <a:xfrm flipH="1">
            <a:off x="6649041" y="3758888"/>
            <a:ext cx="12664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B1AB6E3-489A-9945-115F-0DEF7E03FC1C}"/>
              </a:ext>
            </a:extLst>
          </p:cNvPr>
          <p:cNvCxnSpPr>
            <a:cxnSpLocks/>
            <a:stCxn id="34" idx="2"/>
            <a:endCxn id="33" idx="3"/>
          </p:cNvCxnSpPr>
          <p:nvPr/>
        </p:nvCxnSpPr>
        <p:spPr>
          <a:xfrm flipH="1">
            <a:off x="6217771" y="3943554"/>
            <a:ext cx="2166760" cy="12225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D792E21-5369-6BA0-2B88-9B5B933BF6F3}"/>
              </a:ext>
            </a:extLst>
          </p:cNvPr>
          <p:cNvSpPr txBox="1"/>
          <p:nvPr/>
        </p:nvSpPr>
        <p:spPr>
          <a:xfrm>
            <a:off x="6903704" y="3489662"/>
            <a:ext cx="97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SIMULATE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8AE95D-854F-D3E4-D7DD-BE093F298B5D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0812577-52CB-BBFB-68F0-81B275F6B944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F5C521-3730-7683-AE99-2BA072C5F3F6}"/>
              </a:ext>
            </a:extLst>
          </p:cNvPr>
          <p:cNvSpPr txBox="1"/>
          <p:nvPr/>
        </p:nvSpPr>
        <p:spPr>
          <a:xfrm>
            <a:off x="7558383" y="736903"/>
            <a:ext cx="590226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CHORD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05A10C-517A-D7BA-B08C-4A1E8ADDD7CC}"/>
              </a:ext>
            </a:extLst>
          </p:cNvPr>
          <p:cNvSpPr txBox="1"/>
          <p:nvPr/>
        </p:nvSpPr>
        <p:spPr>
          <a:xfrm>
            <a:off x="7531933" y="1001188"/>
            <a:ext cx="6335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dissonance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AB7C71-960E-981E-90FD-4D22CC402E08}"/>
              </a:ext>
            </a:extLst>
          </p:cNvPr>
          <p:cNvSpPr txBox="1"/>
          <p:nvPr/>
        </p:nvSpPr>
        <p:spPr>
          <a:xfrm>
            <a:off x="7577618" y="1201243"/>
            <a:ext cx="5421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loudness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7D2EFC-AA8B-9BEB-DF17-45630FAA4CFA}"/>
              </a:ext>
            </a:extLst>
          </p:cNvPr>
          <p:cNvSpPr txBox="1"/>
          <p:nvPr/>
        </p:nvSpPr>
        <p:spPr>
          <a:xfrm>
            <a:off x="7717881" y="1401298"/>
            <a:ext cx="2616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…</a:t>
            </a:r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14D04B7B-2FE4-D5D6-409D-DA9C19119CF8}"/>
              </a:ext>
            </a:extLst>
          </p:cNvPr>
          <p:cNvSpPr/>
          <p:nvPr/>
        </p:nvSpPr>
        <p:spPr>
          <a:xfrm>
            <a:off x="7456909" y="1001188"/>
            <a:ext cx="45719" cy="60016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B4D5F9-5052-6E75-E372-29445B234BB0}"/>
              </a:ext>
            </a:extLst>
          </p:cNvPr>
          <p:cNvSpPr txBox="1"/>
          <p:nvPr/>
        </p:nvSpPr>
        <p:spPr>
          <a:xfrm rot="16200000">
            <a:off x="7044072" y="1187459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FEATURES</a:t>
            </a:r>
          </a:p>
        </p:txBody>
      </p:sp>
      <p:pic>
        <p:nvPicPr>
          <p:cNvPr id="31" name="Graphic 30" descr="Ear with solid fill">
            <a:extLst>
              <a:ext uri="{FF2B5EF4-FFF2-40B4-BE49-F238E27FC236}">
                <a16:creationId xmlns:a16="http://schemas.microsoft.com/office/drawing/2014/main" id="{905EB0EF-01D8-CC34-1EE4-1ECD0FACBE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249" y="346239"/>
            <a:ext cx="914400" cy="914400"/>
          </a:xfrm>
          <a:prstGeom prst="rect">
            <a:avLst/>
          </a:prstGeom>
        </p:spPr>
      </p:pic>
      <p:sp>
        <p:nvSpPr>
          <p:cNvPr id="49" name="Right Arrow 48">
            <a:extLst>
              <a:ext uri="{FF2B5EF4-FFF2-40B4-BE49-F238E27FC236}">
                <a16:creationId xmlns:a16="http://schemas.microsoft.com/office/drawing/2014/main" id="{413FCF31-A3AA-6643-735C-30AFDF5CF4C5}"/>
              </a:ext>
            </a:extLst>
          </p:cNvPr>
          <p:cNvSpPr/>
          <p:nvPr/>
        </p:nvSpPr>
        <p:spPr>
          <a:xfrm>
            <a:off x="8358141" y="736903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0A953A79-BE04-13F3-F92C-7BA477798FD2}"/>
              </a:ext>
            </a:extLst>
          </p:cNvPr>
          <p:cNvSpPr/>
          <p:nvPr/>
        </p:nvSpPr>
        <p:spPr>
          <a:xfrm>
            <a:off x="9345423" y="733031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Graphic 50" descr="Exclamation mark with solid fill">
            <a:extLst>
              <a:ext uri="{FF2B5EF4-FFF2-40B4-BE49-F238E27FC236}">
                <a16:creationId xmlns:a16="http://schemas.microsoft.com/office/drawing/2014/main" id="{A345CC5A-C2B7-C8A1-AAB2-D58B23445E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2187" y="392918"/>
            <a:ext cx="914400" cy="9144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9106182-9507-FBCA-C6F6-DE2283F4DC61}"/>
              </a:ext>
            </a:extLst>
          </p:cNvPr>
          <p:cNvSpPr txBox="1"/>
          <p:nvPr/>
        </p:nvSpPr>
        <p:spPr>
          <a:xfrm>
            <a:off x="9500686" y="1285882"/>
            <a:ext cx="5774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THREAT</a:t>
            </a:r>
            <a:endParaRPr lang="en-US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62CEB4-1B8E-D8A4-E851-3E150F09CC64}"/>
              </a:ext>
            </a:extLst>
          </p:cNvPr>
          <p:cNvSpPr txBox="1"/>
          <p:nvPr/>
        </p:nvSpPr>
        <p:spPr>
          <a:xfrm>
            <a:off x="216475" y="1751509"/>
            <a:ext cx="3055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HYPOTHESIS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Tension is caused by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dissonance and loudness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4032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0088-7E1D-C56B-2A84-445DA674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C51DE92-029B-2F20-C58D-BFCCF7F1174C}"/>
              </a:ext>
            </a:extLst>
          </p:cNvPr>
          <p:cNvSpPr txBox="1"/>
          <p:nvPr/>
        </p:nvSpPr>
        <p:spPr>
          <a:xfrm>
            <a:off x="133815" y="3469175"/>
            <a:ext cx="305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chords sound more “tense” and “unresolved” than others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6B7AF0-3EF8-37B9-9CA5-A107BA71C4B6}"/>
              </a:ext>
            </a:extLst>
          </p:cNvPr>
          <p:cNvSpPr txBox="1"/>
          <p:nvPr/>
        </p:nvSpPr>
        <p:spPr>
          <a:xfrm>
            <a:off x="133815" y="4876390"/>
            <a:ext cx="305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Self-reported tension ratings (1-7)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B4296F-4B46-84F5-B3E2-7DFCC54BA373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576621-7649-4C60-B758-DF06E3E0B783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5C69A7-8E5B-12FF-C0E8-14D41237AF39}"/>
              </a:ext>
            </a:extLst>
          </p:cNvPr>
          <p:cNvSpPr txBox="1"/>
          <p:nvPr/>
        </p:nvSpPr>
        <p:spPr>
          <a:xfrm>
            <a:off x="7915492" y="357422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6B479B-B170-E32F-6D9A-AB0F34F956C1}"/>
              </a:ext>
            </a:extLst>
          </p:cNvPr>
          <p:cNvCxnSpPr>
            <a:cxnSpLocks/>
            <a:stCxn id="32" idx="2"/>
            <a:endCxn id="42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CD3B10A-0865-5B53-40F4-287B7DF02327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FAFC5BD-2A79-194D-4544-74A26E3AF611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0C2DDF-0944-E33C-C1B7-C528EB4A2BDC}"/>
              </a:ext>
            </a:extLst>
          </p:cNvPr>
          <p:cNvCxnSpPr>
            <a:cxnSpLocks/>
            <a:stCxn id="42" idx="2"/>
            <a:endCxn id="33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792CB81-292B-0DFC-9FB0-7CCABBEC77C0}"/>
              </a:ext>
            </a:extLst>
          </p:cNvPr>
          <p:cNvSpPr txBox="1"/>
          <p:nvPr/>
        </p:nvSpPr>
        <p:spPr>
          <a:xfrm rot="19636192">
            <a:off x="6982903" y="4499996"/>
            <a:ext cx="875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PREDICT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893BB0-E44F-20F4-4C7B-09D5A6E80747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75AD8E-913A-A896-E620-21291C5C4138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D69103-8EFA-C101-51CB-B88221D2A5D6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80E0954-F1CE-2CDB-B782-3583D2917BEC}"/>
              </a:ext>
            </a:extLst>
          </p:cNvPr>
          <p:cNvCxnSpPr>
            <a:cxnSpLocks/>
            <a:stCxn id="34" idx="1"/>
            <a:endCxn id="42" idx="3"/>
          </p:cNvCxnSpPr>
          <p:nvPr/>
        </p:nvCxnSpPr>
        <p:spPr>
          <a:xfrm flipH="1">
            <a:off x="6649041" y="3758888"/>
            <a:ext cx="12664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CFC7D6E-D675-6CE3-6B45-92BED1B922D9}"/>
              </a:ext>
            </a:extLst>
          </p:cNvPr>
          <p:cNvCxnSpPr>
            <a:cxnSpLocks/>
            <a:stCxn id="34" idx="2"/>
            <a:endCxn id="33" idx="3"/>
          </p:cNvCxnSpPr>
          <p:nvPr/>
        </p:nvCxnSpPr>
        <p:spPr>
          <a:xfrm flipH="1">
            <a:off x="6217771" y="3943554"/>
            <a:ext cx="2166760" cy="12225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12484E8-EB09-9625-46FF-5A106319448F}"/>
              </a:ext>
            </a:extLst>
          </p:cNvPr>
          <p:cNvSpPr txBox="1"/>
          <p:nvPr/>
        </p:nvSpPr>
        <p:spPr>
          <a:xfrm>
            <a:off x="6903704" y="3489662"/>
            <a:ext cx="97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SIMULATE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DF4B4C-D0DB-FBEB-8D9F-62633770199A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18673D-1D91-89A0-35E9-7EF7D162D6FE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62F5C-C0D2-7E0C-3E72-6E6DF1A9DE9B}"/>
              </a:ext>
            </a:extLst>
          </p:cNvPr>
          <p:cNvSpPr txBox="1"/>
          <p:nvPr/>
        </p:nvSpPr>
        <p:spPr>
          <a:xfrm>
            <a:off x="7558383" y="736903"/>
            <a:ext cx="590226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CHORD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E6702E-52ED-A818-9171-806CB1F5F02D}"/>
              </a:ext>
            </a:extLst>
          </p:cNvPr>
          <p:cNvSpPr txBox="1"/>
          <p:nvPr/>
        </p:nvSpPr>
        <p:spPr>
          <a:xfrm>
            <a:off x="7531933" y="1001188"/>
            <a:ext cx="6335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dissonance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AD117B-EA42-8B43-1A07-6A40CB32AD86}"/>
              </a:ext>
            </a:extLst>
          </p:cNvPr>
          <p:cNvSpPr txBox="1"/>
          <p:nvPr/>
        </p:nvSpPr>
        <p:spPr>
          <a:xfrm>
            <a:off x="7577618" y="1201243"/>
            <a:ext cx="5421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loudness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57B7C2-5E9E-9C0F-D277-DB4EA14A0124}"/>
              </a:ext>
            </a:extLst>
          </p:cNvPr>
          <p:cNvSpPr txBox="1"/>
          <p:nvPr/>
        </p:nvSpPr>
        <p:spPr>
          <a:xfrm>
            <a:off x="7717881" y="1401298"/>
            <a:ext cx="2616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…</a:t>
            </a:r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5C922F19-6AB3-7B18-0119-3196CEEB0034}"/>
              </a:ext>
            </a:extLst>
          </p:cNvPr>
          <p:cNvSpPr/>
          <p:nvPr/>
        </p:nvSpPr>
        <p:spPr>
          <a:xfrm>
            <a:off x="7456909" y="1001188"/>
            <a:ext cx="45719" cy="60016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741A60-BF72-FFF4-5CE9-EC6BB95E1797}"/>
              </a:ext>
            </a:extLst>
          </p:cNvPr>
          <p:cNvSpPr txBox="1"/>
          <p:nvPr/>
        </p:nvSpPr>
        <p:spPr>
          <a:xfrm rot="16200000">
            <a:off x="7044072" y="1187459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FEATURES</a:t>
            </a:r>
          </a:p>
        </p:txBody>
      </p:sp>
      <p:pic>
        <p:nvPicPr>
          <p:cNvPr id="31" name="Graphic 30" descr="Ear with solid fill">
            <a:extLst>
              <a:ext uri="{FF2B5EF4-FFF2-40B4-BE49-F238E27FC236}">
                <a16:creationId xmlns:a16="http://schemas.microsoft.com/office/drawing/2014/main" id="{A1DE405D-7F61-2E15-8C13-9F35B9D8D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249" y="346239"/>
            <a:ext cx="914400" cy="914400"/>
          </a:xfrm>
          <a:prstGeom prst="rect">
            <a:avLst/>
          </a:prstGeom>
        </p:spPr>
      </p:pic>
      <p:sp>
        <p:nvSpPr>
          <p:cNvPr id="49" name="Right Arrow 48">
            <a:extLst>
              <a:ext uri="{FF2B5EF4-FFF2-40B4-BE49-F238E27FC236}">
                <a16:creationId xmlns:a16="http://schemas.microsoft.com/office/drawing/2014/main" id="{0F97A59A-EB9C-DC16-C765-C683F92ABD8D}"/>
              </a:ext>
            </a:extLst>
          </p:cNvPr>
          <p:cNvSpPr/>
          <p:nvPr/>
        </p:nvSpPr>
        <p:spPr>
          <a:xfrm>
            <a:off x="8358141" y="736903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CAE284C5-6102-D513-C6B4-483664CBC222}"/>
              </a:ext>
            </a:extLst>
          </p:cNvPr>
          <p:cNvSpPr/>
          <p:nvPr/>
        </p:nvSpPr>
        <p:spPr>
          <a:xfrm>
            <a:off x="9345423" y="733031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Graphic 50" descr="Exclamation mark with solid fill">
            <a:extLst>
              <a:ext uri="{FF2B5EF4-FFF2-40B4-BE49-F238E27FC236}">
                <a16:creationId xmlns:a16="http://schemas.microsoft.com/office/drawing/2014/main" id="{FAB65F73-1C70-3620-43F1-8760AC556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2187" y="392918"/>
            <a:ext cx="914400" cy="914400"/>
          </a:xfrm>
          <a:prstGeom prst="rect">
            <a:avLst/>
          </a:prstGeom>
        </p:spPr>
      </p:pic>
      <p:sp>
        <p:nvSpPr>
          <p:cNvPr id="52" name="Right Arrow 51">
            <a:extLst>
              <a:ext uri="{FF2B5EF4-FFF2-40B4-BE49-F238E27FC236}">
                <a16:creationId xmlns:a16="http://schemas.microsoft.com/office/drawing/2014/main" id="{943BDB55-4458-5D28-FCA3-DF381959A20B}"/>
              </a:ext>
            </a:extLst>
          </p:cNvPr>
          <p:cNvSpPr/>
          <p:nvPr/>
        </p:nvSpPr>
        <p:spPr>
          <a:xfrm>
            <a:off x="10012154" y="733031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0A7E21A-43F1-E734-1616-7B55B932DBE8}"/>
                  </a:ext>
                </a:extLst>
              </p:cNvPr>
              <p:cNvSpPr txBox="1"/>
              <p:nvPr/>
            </p:nvSpPr>
            <p:spPr>
              <a:xfrm>
                <a:off x="10208417" y="610057"/>
                <a:ext cx="1332416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/>
                  <a:t>TENSION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US" sz="900" dirty="0"/>
              </a:p>
              <a:p>
                <a:pPr algn="ctr"/>
                <a:r>
                  <a:rPr lang="en-US" sz="900" dirty="0"/>
                  <a:t>dissonance + loudness</a:t>
                </a: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0A7E21A-43F1-E734-1616-7B55B932D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417" y="610057"/>
                <a:ext cx="1332416" cy="507831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A86E8835-C1CA-A556-2552-AE1759061158}"/>
              </a:ext>
            </a:extLst>
          </p:cNvPr>
          <p:cNvSpPr txBox="1"/>
          <p:nvPr/>
        </p:nvSpPr>
        <p:spPr>
          <a:xfrm>
            <a:off x="9500686" y="1285882"/>
            <a:ext cx="5774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THREAT</a:t>
            </a:r>
            <a:endParaRPr lang="en-US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C202BD-DA46-ADFF-9E55-D44B50E50A70}"/>
              </a:ext>
            </a:extLst>
          </p:cNvPr>
          <p:cNvSpPr txBox="1"/>
          <p:nvPr/>
        </p:nvSpPr>
        <p:spPr>
          <a:xfrm>
            <a:off x="216475" y="1751509"/>
            <a:ext cx="3055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HYPOTHESIS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Tension is caused by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dissonance and loudness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3925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B3E63-E468-CE86-8875-7B0605DE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BE3A9E5-D022-AA63-CFA4-55FE16519953}"/>
              </a:ext>
            </a:extLst>
          </p:cNvPr>
          <p:cNvSpPr txBox="1"/>
          <p:nvPr/>
        </p:nvSpPr>
        <p:spPr>
          <a:xfrm>
            <a:off x="133815" y="3469175"/>
            <a:ext cx="3055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chords sound more “tense” and “unresolved” than others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313B6C-9E24-B783-5997-DB4A6CADC8F9}"/>
              </a:ext>
            </a:extLst>
          </p:cNvPr>
          <p:cNvSpPr txBox="1"/>
          <p:nvPr/>
        </p:nvSpPr>
        <p:spPr>
          <a:xfrm>
            <a:off x="133815" y="4876390"/>
            <a:ext cx="305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Self-reported tension ratings (1-7)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B975CC-B9ED-E2BE-5FFA-31DD6A05D6F4}"/>
              </a:ext>
            </a:extLst>
          </p:cNvPr>
          <p:cNvSpPr txBox="1"/>
          <p:nvPr/>
        </p:nvSpPr>
        <p:spPr>
          <a:xfrm>
            <a:off x="5356829" y="2167008"/>
            <a:ext cx="10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53327B-5527-E283-22A4-AFDEA30FE2E7}"/>
              </a:ext>
            </a:extLst>
          </p:cNvPr>
          <p:cNvSpPr txBox="1"/>
          <p:nvPr/>
        </p:nvSpPr>
        <p:spPr>
          <a:xfrm>
            <a:off x="5517066" y="4981437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2A1445-8434-8953-55C9-67148E7AF26A}"/>
              </a:ext>
            </a:extLst>
          </p:cNvPr>
          <p:cNvSpPr txBox="1"/>
          <p:nvPr/>
        </p:nvSpPr>
        <p:spPr>
          <a:xfrm>
            <a:off x="7915492" y="357422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4887516-EB57-356A-8616-3DDB87B1C3C4}"/>
              </a:ext>
            </a:extLst>
          </p:cNvPr>
          <p:cNvCxnSpPr>
            <a:cxnSpLocks/>
            <a:stCxn id="32" idx="2"/>
            <a:endCxn id="42" idx="0"/>
          </p:cNvCxnSpPr>
          <p:nvPr/>
        </p:nvCxnSpPr>
        <p:spPr>
          <a:xfrm flipH="1">
            <a:off x="5867417" y="2536340"/>
            <a:ext cx="1" cy="103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7914F4D-6761-9167-1834-D35879A40B3A}"/>
              </a:ext>
            </a:extLst>
          </p:cNvPr>
          <p:cNvSpPr txBox="1"/>
          <p:nvPr/>
        </p:nvSpPr>
        <p:spPr>
          <a:xfrm rot="16200000">
            <a:off x="5232564" y="4308605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F6713F-0221-099C-265A-51DEC70F2AE9}"/>
              </a:ext>
            </a:extLst>
          </p:cNvPr>
          <p:cNvCxnSpPr>
            <a:cxnSpLocks/>
          </p:cNvCxnSpPr>
          <p:nvPr/>
        </p:nvCxnSpPr>
        <p:spPr>
          <a:xfrm>
            <a:off x="3271909" y="3595610"/>
            <a:ext cx="621845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CB6158-E2F1-145F-21EF-7E07DB8893B6}"/>
              </a:ext>
            </a:extLst>
          </p:cNvPr>
          <p:cNvCxnSpPr>
            <a:cxnSpLocks/>
            <a:stCxn id="42" idx="2"/>
            <a:endCxn id="33" idx="0"/>
          </p:cNvCxnSpPr>
          <p:nvPr/>
        </p:nvCxnSpPr>
        <p:spPr>
          <a:xfrm>
            <a:off x="5867417" y="3943554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C84363E-B69E-70A0-2686-F12E4C7FC7DD}"/>
              </a:ext>
            </a:extLst>
          </p:cNvPr>
          <p:cNvSpPr txBox="1"/>
          <p:nvPr/>
        </p:nvSpPr>
        <p:spPr>
          <a:xfrm rot="19636192">
            <a:off x="6982903" y="4499996"/>
            <a:ext cx="875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PREDICT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675AAF-2D9B-3746-3223-59202756E596}"/>
              </a:ext>
            </a:extLst>
          </p:cNvPr>
          <p:cNvSpPr txBox="1"/>
          <p:nvPr/>
        </p:nvSpPr>
        <p:spPr>
          <a:xfrm rot="16200000">
            <a:off x="4009164" y="2773564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980CBD-6045-1400-0064-C34372C369D1}"/>
              </a:ext>
            </a:extLst>
          </p:cNvPr>
          <p:cNvSpPr txBox="1"/>
          <p:nvPr/>
        </p:nvSpPr>
        <p:spPr>
          <a:xfrm rot="16200000">
            <a:off x="3824274" y="4325776"/>
            <a:ext cx="131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1B89CB-AD81-6F4D-E62E-39BA0B607EFD}"/>
              </a:ext>
            </a:extLst>
          </p:cNvPr>
          <p:cNvSpPr txBox="1"/>
          <p:nvPr/>
        </p:nvSpPr>
        <p:spPr>
          <a:xfrm>
            <a:off x="5085793" y="357422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328CA24-950E-2DA7-E494-C502AF3294D8}"/>
              </a:ext>
            </a:extLst>
          </p:cNvPr>
          <p:cNvCxnSpPr>
            <a:cxnSpLocks/>
            <a:stCxn id="34" idx="1"/>
            <a:endCxn id="42" idx="3"/>
          </p:cNvCxnSpPr>
          <p:nvPr/>
        </p:nvCxnSpPr>
        <p:spPr>
          <a:xfrm flipH="1">
            <a:off x="6649041" y="3758888"/>
            <a:ext cx="12664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AA82082-CA08-0BA4-7400-8088491B6E03}"/>
              </a:ext>
            </a:extLst>
          </p:cNvPr>
          <p:cNvCxnSpPr>
            <a:cxnSpLocks/>
            <a:stCxn id="34" idx="2"/>
            <a:endCxn id="33" idx="3"/>
          </p:cNvCxnSpPr>
          <p:nvPr/>
        </p:nvCxnSpPr>
        <p:spPr>
          <a:xfrm flipH="1">
            <a:off x="6217771" y="3943554"/>
            <a:ext cx="2166760" cy="12225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0655934-B0D8-3A3F-2E42-2B65B304D40B}"/>
              </a:ext>
            </a:extLst>
          </p:cNvPr>
          <p:cNvSpPr txBox="1"/>
          <p:nvPr/>
        </p:nvSpPr>
        <p:spPr>
          <a:xfrm>
            <a:off x="6903704" y="3489662"/>
            <a:ext cx="97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SIMULATE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FB3C00-B342-FE5E-84B6-88A84F91B2A2}"/>
              </a:ext>
            </a:extLst>
          </p:cNvPr>
          <p:cNvSpPr txBox="1"/>
          <p:nvPr/>
        </p:nvSpPr>
        <p:spPr>
          <a:xfrm rot="16200000">
            <a:off x="5154984" y="2868112"/>
            <a:ext cx="1108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INFLUENCE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F5374D-467E-91B1-A4C3-EFBD775FDD52}"/>
              </a:ext>
            </a:extLst>
          </p:cNvPr>
          <p:cNvSpPr/>
          <p:nvPr/>
        </p:nvSpPr>
        <p:spPr>
          <a:xfrm>
            <a:off x="3271909" y="1953493"/>
            <a:ext cx="6218454" cy="1642117"/>
          </a:xfrm>
          <a:prstGeom prst="rect">
            <a:avLst/>
          </a:prstGeom>
          <a:solidFill>
            <a:schemeClr val="tx1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3E927B-65EC-2D70-01FD-64FE29064F86}"/>
              </a:ext>
            </a:extLst>
          </p:cNvPr>
          <p:cNvSpPr txBox="1"/>
          <p:nvPr/>
        </p:nvSpPr>
        <p:spPr>
          <a:xfrm>
            <a:off x="7558383" y="736903"/>
            <a:ext cx="590226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CHORD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5FD7F-0E03-FF3B-2AF0-A0C8F34B8AAD}"/>
              </a:ext>
            </a:extLst>
          </p:cNvPr>
          <p:cNvSpPr txBox="1"/>
          <p:nvPr/>
        </p:nvSpPr>
        <p:spPr>
          <a:xfrm>
            <a:off x="7531933" y="1001188"/>
            <a:ext cx="6335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dissonance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98A58-70CB-BE7E-8FB5-03D8E18A07FE}"/>
              </a:ext>
            </a:extLst>
          </p:cNvPr>
          <p:cNvSpPr txBox="1"/>
          <p:nvPr/>
        </p:nvSpPr>
        <p:spPr>
          <a:xfrm>
            <a:off x="7577618" y="1201243"/>
            <a:ext cx="5421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loudness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07DAB-134B-166C-0FE3-643BD2F6DF94}"/>
              </a:ext>
            </a:extLst>
          </p:cNvPr>
          <p:cNvSpPr txBox="1"/>
          <p:nvPr/>
        </p:nvSpPr>
        <p:spPr>
          <a:xfrm>
            <a:off x="7717881" y="1401298"/>
            <a:ext cx="2616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…</a:t>
            </a:r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4F5FE88F-2FE2-3FE4-75BD-540AF226A1D7}"/>
              </a:ext>
            </a:extLst>
          </p:cNvPr>
          <p:cNvSpPr/>
          <p:nvPr/>
        </p:nvSpPr>
        <p:spPr>
          <a:xfrm>
            <a:off x="7456909" y="1001188"/>
            <a:ext cx="45719" cy="60016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EB41F-2B78-BABB-C236-8AB2B9DCEF4A}"/>
              </a:ext>
            </a:extLst>
          </p:cNvPr>
          <p:cNvSpPr txBox="1"/>
          <p:nvPr/>
        </p:nvSpPr>
        <p:spPr>
          <a:xfrm rot="16200000">
            <a:off x="7044072" y="1187459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FEATURES</a:t>
            </a:r>
          </a:p>
        </p:txBody>
      </p:sp>
      <p:pic>
        <p:nvPicPr>
          <p:cNvPr id="16" name="Graphic 15" descr="Ear with solid fill">
            <a:extLst>
              <a:ext uri="{FF2B5EF4-FFF2-40B4-BE49-F238E27FC236}">
                <a16:creationId xmlns:a16="http://schemas.microsoft.com/office/drawing/2014/main" id="{070433C4-BC48-FEE5-03FD-1877A5641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249" y="346239"/>
            <a:ext cx="914400" cy="914400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1CCD044F-150D-F726-DCA6-04A59FBC1982}"/>
              </a:ext>
            </a:extLst>
          </p:cNvPr>
          <p:cNvSpPr/>
          <p:nvPr/>
        </p:nvSpPr>
        <p:spPr>
          <a:xfrm>
            <a:off x="8358141" y="736903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87EF04A3-00B5-4831-EFEE-9DEE5812C5BE}"/>
              </a:ext>
            </a:extLst>
          </p:cNvPr>
          <p:cNvSpPr/>
          <p:nvPr/>
        </p:nvSpPr>
        <p:spPr>
          <a:xfrm>
            <a:off x="9345423" y="733031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 descr="Exclamation mark with solid fill">
            <a:extLst>
              <a:ext uri="{FF2B5EF4-FFF2-40B4-BE49-F238E27FC236}">
                <a16:creationId xmlns:a16="http://schemas.microsoft.com/office/drawing/2014/main" id="{575D4DE9-B85D-B23B-BCD1-C59CB2A2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2187" y="392918"/>
            <a:ext cx="914400" cy="914400"/>
          </a:xfrm>
          <a:prstGeom prst="rect">
            <a:avLst/>
          </a:prstGeom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B7399D2C-0099-2891-6CE8-1A2E7214E2C9}"/>
              </a:ext>
            </a:extLst>
          </p:cNvPr>
          <p:cNvSpPr/>
          <p:nvPr/>
        </p:nvSpPr>
        <p:spPr>
          <a:xfrm>
            <a:off x="10012154" y="733031"/>
            <a:ext cx="247669" cy="2341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A39583-75FF-B903-0BA9-913B1D2938DB}"/>
              </a:ext>
            </a:extLst>
          </p:cNvPr>
          <p:cNvSpPr txBox="1"/>
          <p:nvPr/>
        </p:nvSpPr>
        <p:spPr>
          <a:xfrm>
            <a:off x="9500686" y="1285882"/>
            <a:ext cx="5774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THREAT</a:t>
            </a:r>
            <a:endParaRPr lang="en-US" sz="1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BC0B04-E4FC-1FB0-4D21-33E4F2695002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6378006" y="2351674"/>
            <a:ext cx="2006525" cy="1222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AFA103-9CF6-FC01-2020-30B8D7BAD7FA}"/>
              </a:ext>
            </a:extLst>
          </p:cNvPr>
          <p:cNvSpPr txBox="1"/>
          <p:nvPr/>
        </p:nvSpPr>
        <p:spPr>
          <a:xfrm rot="2085128">
            <a:off x="7383739" y="2697215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INFER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77CCC2-AB95-B9E9-E042-10A0D27C8C78}"/>
              </a:ext>
            </a:extLst>
          </p:cNvPr>
          <p:cNvSpPr txBox="1"/>
          <p:nvPr/>
        </p:nvSpPr>
        <p:spPr>
          <a:xfrm>
            <a:off x="216475" y="1751509"/>
            <a:ext cx="3055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HYPOTHESIS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Tension is caused by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dissonance and loudness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BB6904-665D-4A5D-96C2-2563C2D11038}"/>
                  </a:ext>
                </a:extLst>
              </p:cNvPr>
              <p:cNvSpPr txBox="1"/>
              <p:nvPr/>
            </p:nvSpPr>
            <p:spPr>
              <a:xfrm>
                <a:off x="10208417" y="610057"/>
                <a:ext cx="1332416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/>
                  <a:t>TENSION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US" sz="900" dirty="0"/>
              </a:p>
              <a:p>
                <a:pPr algn="ctr"/>
                <a:r>
                  <a:rPr lang="en-US" sz="900" dirty="0"/>
                  <a:t>dissonance + loudness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BB6904-665D-4A5D-96C2-2563C2D11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417" y="610057"/>
                <a:ext cx="1332416" cy="507831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656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A111E-CB30-E61D-61EB-EE62D87BE402}"/>
              </a:ext>
            </a:extLst>
          </p:cNvPr>
          <p:cNvSpPr txBox="1"/>
          <p:nvPr/>
        </p:nvSpPr>
        <p:spPr>
          <a:xfrm>
            <a:off x="1857405" y="1582340"/>
            <a:ext cx="95502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Exercise: Define a quantitative research question based on one of these kinds of data.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 corpus of musical scores</a:t>
            </a:r>
          </a:p>
          <a:p>
            <a:pPr marL="285750" indent="-285750">
              <a:buFontTx/>
              <a:buChar char="-"/>
            </a:pPr>
            <a:r>
              <a:rPr lang="en-US" dirty="0"/>
              <a:t>A collection of texts (e.g., letters from a composer discussing their compositions)</a:t>
            </a:r>
          </a:p>
          <a:p>
            <a:pPr marL="285750" indent="-285750">
              <a:buFontTx/>
              <a:buChar char="-"/>
            </a:pPr>
            <a:r>
              <a:rPr lang="en-US" dirty="0"/>
              <a:t>Music and tension ratings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Discuss: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whether the proposed study is descriptive or inferential</a:t>
            </a:r>
          </a:p>
          <a:p>
            <a:pPr marL="285750" indent="-285750">
              <a:buFontTx/>
              <a:buChar char="-"/>
            </a:pPr>
            <a:r>
              <a:rPr lang="en-US" dirty="0"/>
              <a:t>why the answer to the question is not trivial </a:t>
            </a:r>
          </a:p>
          <a:p>
            <a:pPr marL="285750" indent="-285750">
              <a:buFontTx/>
              <a:buChar char="-"/>
            </a:pPr>
            <a:r>
              <a:rPr lang="en-US" dirty="0"/>
              <a:t>what quantities would you need to measure </a:t>
            </a:r>
          </a:p>
          <a:p>
            <a:pPr marL="285750" indent="-285750">
              <a:buFontTx/>
              <a:buChar char="-"/>
            </a:pPr>
            <a:r>
              <a:rPr lang="en-US" dirty="0"/>
              <a:t>what makes it interesting to you (and possibly to others)</a:t>
            </a:r>
          </a:p>
        </p:txBody>
      </p:sp>
    </p:spTree>
    <p:extLst>
      <p:ext uri="{BB962C8B-B14F-4D97-AF65-F5344CB8AC3E}">
        <p14:creationId xmlns:p14="http://schemas.microsoft.com/office/powerpoint/2010/main" val="505820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72D801-BDE9-6DC0-FC5C-F2172F1395CF}"/>
              </a:ext>
            </a:extLst>
          </p:cNvPr>
          <p:cNvSpPr txBox="1"/>
          <p:nvPr/>
        </p:nvSpPr>
        <p:spPr>
          <a:xfrm>
            <a:off x="5197166" y="1722055"/>
            <a:ext cx="1797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REDUCTIONISM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A61CD-37C3-497E-AEF3-4586511622D6}"/>
              </a:ext>
            </a:extLst>
          </p:cNvPr>
          <p:cNvSpPr txBox="1"/>
          <p:nvPr/>
        </p:nvSpPr>
        <p:spPr>
          <a:xfrm>
            <a:off x="401782" y="3244334"/>
            <a:ext cx="5694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ABSTRACTION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We focus on some aspects of the world </a:t>
            </a:r>
          </a:p>
          <a:p>
            <a:pPr algn="ctr"/>
            <a:r>
              <a:rPr lang="en-US" dirty="0"/>
              <a:t>and ignore others,</a:t>
            </a:r>
          </a:p>
          <a:p>
            <a:pPr algn="ctr"/>
            <a:r>
              <a:rPr lang="en-US" dirty="0"/>
              <a:t>assuming that the phenomenon is invariant to the aspects we choose to ignore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41A36-E364-34E0-8993-8FB1330595A2}"/>
              </a:ext>
            </a:extLst>
          </p:cNvPr>
          <p:cNvSpPr txBox="1"/>
          <p:nvPr/>
        </p:nvSpPr>
        <p:spPr>
          <a:xfrm>
            <a:off x="6096001" y="3244334"/>
            <a:ext cx="56942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APPROXIMATION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We make our models simpler at the cost of some degree of inaccuracy in the way they agree with reality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41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29FE09-2000-32FE-29D5-98EB0D570233}"/>
              </a:ext>
            </a:extLst>
          </p:cNvPr>
          <p:cNvSpPr txBox="1"/>
          <p:nvPr/>
        </p:nvSpPr>
        <p:spPr>
          <a:xfrm>
            <a:off x="1332994" y="3982998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69D79-8393-36CE-F71B-FBC3AF90E823}"/>
              </a:ext>
            </a:extLst>
          </p:cNvPr>
          <p:cNvSpPr txBox="1"/>
          <p:nvPr/>
        </p:nvSpPr>
        <p:spPr>
          <a:xfrm rot="16200000">
            <a:off x="1048492" y="3310166"/>
            <a:ext cx="961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MEASURE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DD80C3-E111-EDF5-2145-6E664302761B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1683345" y="2945115"/>
            <a:ext cx="2" cy="103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9F2C257-1D31-3686-6B98-D61A29FAE8A6}"/>
              </a:ext>
            </a:extLst>
          </p:cNvPr>
          <p:cNvSpPr txBox="1"/>
          <p:nvPr/>
        </p:nvSpPr>
        <p:spPr>
          <a:xfrm>
            <a:off x="901721" y="257578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PHENOMENA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B6A59-FA7B-21B0-EA24-0064B1195266}"/>
              </a:ext>
            </a:extLst>
          </p:cNvPr>
          <p:cNvSpPr txBox="1"/>
          <p:nvPr/>
        </p:nvSpPr>
        <p:spPr>
          <a:xfrm>
            <a:off x="3739566" y="2690336"/>
            <a:ext cx="75507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quantities are relevant/accessible to characterize the phenomenon?</a:t>
            </a:r>
          </a:p>
          <a:p>
            <a:endParaRPr lang="en-US" dirty="0"/>
          </a:p>
          <a:p>
            <a:r>
              <a:rPr lang="en-US" dirty="0"/>
              <a:t>How can I measure such quantities?</a:t>
            </a:r>
          </a:p>
          <a:p>
            <a:endParaRPr lang="en-US" dirty="0"/>
          </a:p>
          <a:p>
            <a:r>
              <a:rPr lang="en-US" dirty="0"/>
              <a:t>How accurately/precisely can I measure such quantities?</a:t>
            </a:r>
          </a:p>
        </p:txBody>
      </p:sp>
    </p:spTree>
    <p:extLst>
      <p:ext uri="{BB962C8B-B14F-4D97-AF65-F5344CB8AC3E}">
        <p14:creationId xmlns:p14="http://schemas.microsoft.com/office/powerpoint/2010/main" val="4130652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6FF23A-7347-8E4E-3F3E-B27F083B52AD}"/>
              </a:ext>
            </a:extLst>
          </p:cNvPr>
          <p:cNvSpPr txBox="1"/>
          <p:nvPr/>
        </p:nvSpPr>
        <p:spPr>
          <a:xfrm>
            <a:off x="1897703" y="1720840"/>
            <a:ext cx="839659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Example: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Pianist A and Pianist B have both performed Chopin’s Ballad n. 1 a total of 15 times.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Question:</a:t>
            </a:r>
            <a:r>
              <a:rPr lang="en-US" dirty="0"/>
              <a:t> Does Pianist A conceive of the Ballad at a slower tempo than Pianist B?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Data:</a:t>
            </a:r>
            <a:r>
              <a:rPr lang="en-US" dirty="0"/>
              <a:t> Duration of each of the 15 performances for each pianist.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Is this data all that there is to know to answer the question?</a:t>
            </a:r>
          </a:p>
        </p:txBody>
      </p:sp>
    </p:spTree>
    <p:extLst>
      <p:ext uri="{BB962C8B-B14F-4D97-AF65-F5344CB8AC3E}">
        <p14:creationId xmlns:p14="http://schemas.microsoft.com/office/powerpoint/2010/main" val="2841976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2E6A2-C3E8-2D10-0BE5-D15895091A31}"/>
              </a:ext>
            </a:extLst>
          </p:cNvPr>
          <p:cNvSpPr txBox="1"/>
          <p:nvPr/>
        </p:nvSpPr>
        <p:spPr>
          <a:xfrm>
            <a:off x="4876723" y="3244334"/>
            <a:ext cx="243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JUPYTER NOTEBOOK 1</a:t>
            </a:r>
          </a:p>
        </p:txBody>
      </p:sp>
    </p:spTree>
    <p:extLst>
      <p:ext uri="{BB962C8B-B14F-4D97-AF65-F5344CB8AC3E}">
        <p14:creationId xmlns:p14="http://schemas.microsoft.com/office/powerpoint/2010/main" val="4279399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F85C-8368-92AA-D339-8C80A6A42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conceptual 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4529D-7884-5892-4084-B465D55BF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 is not causation</a:t>
            </a:r>
          </a:p>
          <a:p>
            <a:r>
              <a:rPr lang="en-US" dirty="0"/>
              <a:t>Simpson paradox</a:t>
            </a:r>
          </a:p>
          <a:p>
            <a:r>
              <a:rPr lang="en-US" dirty="0"/>
              <a:t>Regression to the mean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74170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7568DD-16AE-9BD0-2EEA-F9AEAE0A8EF7}"/>
              </a:ext>
            </a:extLst>
          </p:cNvPr>
          <p:cNvSpPr txBox="1"/>
          <p:nvPr/>
        </p:nvSpPr>
        <p:spPr>
          <a:xfrm>
            <a:off x="4876723" y="3244334"/>
            <a:ext cx="243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JUPYTER NOTEBOOK 2</a:t>
            </a:r>
          </a:p>
        </p:txBody>
      </p:sp>
    </p:spTree>
    <p:extLst>
      <p:ext uri="{BB962C8B-B14F-4D97-AF65-F5344CB8AC3E}">
        <p14:creationId xmlns:p14="http://schemas.microsoft.com/office/powerpoint/2010/main" val="617881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B0E8-A428-968E-D45B-21F7756B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17A611-51EC-9E9B-089B-E4BFC6309FE3}"/>
              </a:ext>
            </a:extLst>
          </p:cNvPr>
          <p:cNvSpPr txBox="1"/>
          <p:nvPr/>
        </p:nvSpPr>
        <p:spPr>
          <a:xfrm>
            <a:off x="2580358" y="2151727"/>
            <a:ext cx="703128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Quantitative research methods</a:t>
            </a:r>
          </a:p>
          <a:p>
            <a:pPr algn="ctr"/>
            <a:r>
              <a:rPr lang="en-US" sz="4000" dirty="0"/>
              <a:t>II</a:t>
            </a:r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Experiment design</a:t>
            </a:r>
          </a:p>
        </p:txBody>
      </p:sp>
    </p:spTree>
    <p:extLst>
      <p:ext uri="{BB962C8B-B14F-4D97-AF65-F5344CB8AC3E}">
        <p14:creationId xmlns:p14="http://schemas.microsoft.com/office/powerpoint/2010/main" val="594850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1AC7-B3D6-ED07-BD60-D16B3055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AA81DC-724E-A8CC-A488-EB95CA9C1B14}"/>
              </a:ext>
            </a:extLst>
          </p:cNvPr>
          <p:cNvSpPr txBox="1"/>
          <p:nvPr/>
        </p:nvSpPr>
        <p:spPr>
          <a:xfrm>
            <a:off x="5541818" y="3020291"/>
            <a:ext cx="1736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Sources of data</a:t>
            </a:r>
          </a:p>
        </p:txBody>
      </p:sp>
    </p:spTree>
    <p:extLst>
      <p:ext uri="{BB962C8B-B14F-4D97-AF65-F5344CB8AC3E}">
        <p14:creationId xmlns:p14="http://schemas.microsoft.com/office/powerpoint/2010/main" val="2979211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335AA0-B9B3-5FC3-56D8-CEC9D1313B56}"/>
              </a:ext>
            </a:extLst>
          </p:cNvPr>
          <p:cNvSpPr txBox="1"/>
          <p:nvPr/>
        </p:nvSpPr>
        <p:spPr>
          <a:xfrm>
            <a:off x="3765080" y="2967335"/>
            <a:ext cx="46618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Confounds and controls</a:t>
            </a:r>
          </a:p>
          <a:p>
            <a:endParaRPr lang="en-US" dirty="0"/>
          </a:p>
          <a:p>
            <a:r>
              <a:rPr lang="en-US" dirty="0"/>
              <a:t>Counterbalancing, randomizing, or modelling</a:t>
            </a:r>
          </a:p>
        </p:txBody>
      </p:sp>
    </p:spTree>
    <p:extLst>
      <p:ext uri="{BB962C8B-B14F-4D97-AF65-F5344CB8AC3E}">
        <p14:creationId xmlns:p14="http://schemas.microsoft.com/office/powerpoint/2010/main" val="3913906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69DBE9-399D-F480-5AE7-6A96E30FA5BF}"/>
              </a:ext>
            </a:extLst>
          </p:cNvPr>
          <p:cNvSpPr txBox="1"/>
          <p:nvPr/>
        </p:nvSpPr>
        <p:spPr>
          <a:xfrm>
            <a:off x="927810" y="1305341"/>
            <a:ext cx="103363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Designing an experiment</a:t>
            </a:r>
          </a:p>
          <a:p>
            <a:endParaRPr lang="en-US" dirty="0"/>
          </a:p>
          <a:p>
            <a:r>
              <a:rPr lang="en-US" dirty="0"/>
              <a:t>Research question: Does Jazz music induce relaxation?</a:t>
            </a:r>
          </a:p>
          <a:p>
            <a:endParaRPr lang="en-US" dirty="0"/>
          </a:p>
          <a:p>
            <a:r>
              <a:rPr lang="en-US" dirty="0"/>
              <a:t>Dependent/target variable: “Relaxation” </a:t>
            </a:r>
            <a:r>
              <a:rPr lang="en-US" dirty="0">
                <a:sym typeface="Wingdings" pitchFamily="2" charset="2"/>
              </a:rPr>
              <a:t> breathing/heart rate OR self-report (Likert scale)</a:t>
            </a:r>
            <a:endParaRPr lang="en-US" dirty="0"/>
          </a:p>
          <a:p>
            <a:endParaRPr lang="en-US" dirty="0"/>
          </a:p>
          <a:p>
            <a:r>
              <a:rPr lang="en-US" dirty="0"/>
              <a:t>Independent variables/predictors: Jazz stimulus (Y/N)</a:t>
            </a:r>
          </a:p>
          <a:p>
            <a:endParaRPr lang="en-US" dirty="0"/>
          </a:p>
          <a:p>
            <a:r>
              <a:rPr lang="en-US" dirty="0"/>
              <a:t>What population? What sample?</a:t>
            </a:r>
          </a:p>
          <a:p>
            <a:endParaRPr lang="en-US" dirty="0"/>
          </a:p>
          <a:p>
            <a:r>
              <a:rPr lang="en-US" dirty="0"/>
              <a:t>Confounds and controls: </a:t>
            </a:r>
          </a:p>
          <a:p>
            <a:r>
              <a:rPr lang="en-US" dirty="0"/>
              <a:t>Is it really Jazz (as opposed to other genres of music) or is it music (as opposed to silence/speech/images)? </a:t>
            </a:r>
            <a:r>
              <a:rPr lang="en-US" dirty="0">
                <a:sym typeface="Wingdings" pitchFamily="2" charset="2"/>
              </a:rPr>
              <a:t> Add other conditions</a:t>
            </a:r>
            <a:endParaRPr lang="en-US" dirty="0"/>
          </a:p>
          <a:p>
            <a:r>
              <a:rPr lang="en-US" dirty="0"/>
              <a:t>Does any Jazz work, or just any music that the participant likes? </a:t>
            </a:r>
            <a:r>
              <a:rPr lang="en-US" dirty="0">
                <a:sym typeface="Wingdings" pitchFamily="2" charset="2"/>
              </a:rPr>
              <a:t> Include liking as a predictor to control for the effect of liking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7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16021</TotalTime>
  <Words>808</Words>
  <Application>Microsoft Macintosh PowerPoint</Application>
  <PresentationFormat>Widescreen</PresentationFormat>
  <Paragraphs>255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conceptual pitfalls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Cecchetti</dc:creator>
  <cp:lastModifiedBy>Gabriele Cecchetti</cp:lastModifiedBy>
  <cp:revision>12</cp:revision>
  <dcterms:created xsi:type="dcterms:W3CDTF">2026-07-21T09:23:04Z</dcterms:created>
  <dcterms:modified xsi:type="dcterms:W3CDTF">2026-08-08T07:51:54Z</dcterms:modified>
</cp:coreProperties>
</file>